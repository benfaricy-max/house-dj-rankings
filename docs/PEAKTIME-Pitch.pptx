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(£k)</c:v>
                </c:pt>
              </c:strCache>
            </c:strRef>
          </c:tx>
          <c:spPr>
            <a:solidFill>
              <a:srgbClr val="C8F750">
                <a:alpha val="100000"/>
              </a:srgbClr>
            </a:solidFill>
            <a:effectLst/>
          </c:spPr>
          <c:invertIfNegative val="0"/>
          <c:dLbls>
            <c:numFmt formatCode="£0&quot;k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9E7DF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Conservative</c:v>
                  </c:pt>
                  <c:pt idx="1">
                    <c:v>Aggressive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198</c:v>
                </c:pt>
              </c:numCache>
            </c:numRef>
          </c:val>
        </c:ser>
        <c:dLbls>
          <c:numFmt formatCode="£0&quot;k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9E7DF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8A82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0"/>
        </c:scaling>
        <c:delete val="1"/>
        <c:axPos val="l"/>
        <c:majorGridlines>
          <c:spPr>
            <a:ln w="6350" cap="flat">
              <a:solidFill>
                <a:srgbClr val="2A2A2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C0C0E"/>
        </a:solidFill>
        <a:ln>
          <a:noFill/>
        </a:ln>
        <a:effectLst/>
      </c:spPr>
    </c:plotArea>
    <c:plotVisOnly val="1"/>
    <c:dispBlanksAs val="span"/>
  </c:chart>
  <c:spPr>
    <a:solidFill>
      <a:srgbClr val="0C0C0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63117"/>
            <a:ext cx="109728" cy="226771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1020470" y="1038393"/>
            <a:ext cx="109728" cy="35149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217981" y="925007"/>
            <a:ext cx="109728" cy="464881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415491" y="822960"/>
            <a:ext cx="109728" cy="56692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783080" y="8412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demand index for</a:t>
            </a:r>
            <a:endParaRPr lang="en-US" sz="52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electronic music.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8F7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 the industry catches on.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50292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neutral, transparent benchmark for what a DJ booking should cost — the one read in the room that isn't selling either side anything.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INVESTOR / STRATEGY OVERVIEW ·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3738"/>
            <a:ext cx="64008" cy="12435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938174" y="575340"/>
            <a:ext cx="64008" cy="19275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053389" y="513161"/>
            <a:ext cx="64008" cy="25493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168603" y="457200"/>
            <a:ext cx="64008" cy="3108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420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0" y="4206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thedjrankings.com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Booking fees are set on gut, hype,</a:t>
            </a:r>
            <a:endParaRPr lang="en-US" sz="3400" dirty="0"/>
          </a:p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who-you-know.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 a £5k–£50k headliner, neither side of the table has an independent number.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291840"/>
            <a:ext cx="3322320" cy="265176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3611880"/>
            <a:ext cx="146304" cy="146304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14" name="Text 12"/>
          <p:cNvSpPr/>
          <p:nvPr/>
        </p:nvSpPr>
        <p:spPr>
          <a:xfrm>
            <a:off x="1389888" y="3529584"/>
            <a:ext cx="259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BUYER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4023360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“Am I overpaying?”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4846320"/>
            <a:ext cx="268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promoter signs the offer with no neutral way to know if the fee is £10k too high. The risk is their own margin.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19600" y="3291840"/>
            <a:ext cx="3322320" cy="265176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9640" y="3611880"/>
            <a:ext cx="146304" cy="146304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19" name="Text 17"/>
          <p:cNvSpPr/>
          <p:nvPr/>
        </p:nvSpPr>
        <p:spPr>
          <a:xfrm>
            <a:off x="4986528" y="3529584"/>
            <a:ext cx="259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SELLER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39640" y="4023360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“They're underpriced.”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39640" y="4846320"/>
            <a:ext cx="268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 agent has no impartial proof the act is on the rise — only their own word, which the buyer discounts.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16240" y="3291840"/>
            <a:ext cx="3322320" cy="265176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36280" y="3611880"/>
            <a:ext cx="146304" cy="146304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24" name="Text 22"/>
          <p:cNvSpPr/>
          <p:nvPr/>
        </p:nvSpPr>
        <p:spPr>
          <a:xfrm>
            <a:off x="8583168" y="3529584"/>
            <a:ext cx="259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MARKET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36280" y="4023360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Runs on relationships.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336280" y="4846320"/>
            <a:ext cx="268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Spotify follower counts and agent hype stand in for demand. Reach ≠ who actually fills the room.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3738"/>
            <a:ext cx="64008" cy="12435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938174" y="575340"/>
            <a:ext cx="64008" cy="19275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053389" y="513161"/>
            <a:ext cx="64008" cy="25493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168603" y="457200"/>
            <a:ext cx="64008" cy="3108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420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0" y="4206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WEDGE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thedjrankings.com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don't sell the ranking.</a:t>
            </a:r>
            <a:endParaRPr lang="en-US" sz="3400" dirty="0"/>
          </a:p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sell the Value Gap.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fee benchmark that reads demand-implied price against the current fee band — with a paste-ready negotiation line. The leaderboard is the free funnel; the fee read is the product.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0" y="1234440"/>
            <a:ext cx="3566160" cy="493776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508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READ — STRONG-BUY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Jayda G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092440" y="2514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CURRENT FEE BAND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92440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7D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£8K – £18K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092440" y="3291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DEMAND-IMPLIED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9244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£35K – £70K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092440" y="4160520"/>
            <a:ext cx="2926080" cy="0"/>
          </a:xfrm>
          <a:prstGeom prst="line">
            <a:avLst/>
          </a:prstGeom>
          <a:noFill/>
          <a:ln w="12700">
            <a:solidFill>
              <a:srgbClr val="2A2A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4297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VALUE GAP   </a:t>
            </a:r>
            <a:pPr indent="0" marL="0">
              <a:buNone/>
            </a:pPr>
            <a:r>
              <a:rPr lang="en-US" sz="16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+317%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92440" y="4709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“RA bookings and Beatport are running ahead of the fee — the rooms know before the rate-card moves.”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114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strong-buy reads, today 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4805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PAWSA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66160" y="44805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+133%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8646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Yotto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66160" y="48646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+133%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24865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KETTAMA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66160" y="52486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+133%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56327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Prospa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66160" y="56327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+79%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3738"/>
            <a:ext cx="64008" cy="12435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938174" y="575340"/>
            <a:ext cx="64008" cy="19275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053389" y="513161"/>
            <a:ext cx="64008" cy="25493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168603" y="457200"/>
            <a:ext cx="64008" cy="3108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420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0" y="4206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thedjrankings.com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multi-signal demand index —</a:t>
            </a:r>
            <a:endParaRPr lang="en-US" sz="3400" dirty="0"/>
          </a:p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weighted for booking, not popularity.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Twelve live signals, self-healing weights, scene credibility in the lead. Reach is demoted on purpose: a DJ can be huge on Spotify and invisible in the booking room.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2960" y="4251960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Signals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326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Resident Advisor live demand, Beatport charts, 1001Tracklists DJ-support, scene credentials, streaming, search, tour density.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30040" y="4206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50080" y="35661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450080" y="4251960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Index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50080" y="4754880"/>
            <a:ext cx="326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Combined into a demand score 0–100. Scene + live demand co-lead; raw reach is winsorised and down-weighted.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57160" y="4206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077200" y="35661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077200" y="4251960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 Gap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77200" y="4754880"/>
            <a:ext cx="326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Demand-implied fee vs the known fee band → strong-buy / buy / premium / fair, with confidence and the method shown.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3738"/>
            <a:ext cx="64008" cy="12435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938174" y="575340"/>
            <a:ext cx="64008" cy="19275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053389" y="513161"/>
            <a:ext cx="64008" cy="25493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168603" y="457200"/>
            <a:ext cx="64008" cy="3108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420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0" y="4206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thedjrankings.com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surfaces. One funnel.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822960" y="2423160"/>
            <a:ext cx="10515600" cy="1078992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5877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Free ranking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8872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FUNNEL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26060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public index at thedjrankings.com — owns the search intent, builds trust, feeds the top of funnel. Always free.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3703320"/>
            <a:ext cx="10515600" cy="1078992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8679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 Gap report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188720" y="4343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38862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buy/sell signal: fair-value verdict, local fee comps, routing context, and a ready-to-paste negotiation line.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4983480"/>
            <a:ext cx="10515600" cy="1078992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51480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Pitch Link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188720" y="5623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PAID · LOOP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51663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private, expiring one-pager an agent or promoter shares with a counterparty — every share exposes a new booker.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3738"/>
            <a:ext cx="64008" cy="12435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938174" y="575340"/>
            <a:ext cx="64008" cy="19275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053389" y="513161"/>
            <a:ext cx="64008" cy="25493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168603" y="457200"/>
            <a:ext cx="64008" cy="3108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420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0" y="4206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thedjrankings.com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Buy-side first. One person, one decision.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Independent house &amp; techno promoters and talent buyers who personally sign £5k–£50k offers. The buyer and the champion are the same person — no committee.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840480"/>
            <a:ext cx="6217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live booking decision in the next 8 weeks — real urgency, not a demo.</a:t>
            </a:r>
            <a:endParaRPr lang="en-US" sz="1350" dirty="0"/>
          </a:p>
          <a:p>
            <a:pPr marL="228600" indent="-2286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Feels “am I overpaying?” as their own margin.</a:t>
            </a:r>
            <a:endParaRPr lang="en-US" sz="1350" dirty="0"/>
          </a:p>
          <a:p>
            <a:pPr marL="228600" indent="-2286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Agents come later, pulled in by the Pitch Link — the expansion motion.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80960" y="2377440"/>
            <a:ext cx="3657600" cy="374904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SWEET SPOT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2926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£5K–50K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04672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 booking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43891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Big enough that a £10k error hurts. Small enough that one person decides — and that person is reachable.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3738"/>
            <a:ext cx="64008" cy="12435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938174" y="575340"/>
            <a:ext cx="64008" cy="19275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053389" y="513161"/>
            <a:ext cx="64008" cy="25493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168603" y="457200"/>
            <a:ext cx="64008" cy="3108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420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0" y="4206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thedjrankings.com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Land Solo. Expand to Team.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822960" y="2331720"/>
            <a:ext cx="5029200" cy="3840480"/>
          </a:xfrm>
          <a:prstGeom prst="rect">
            <a:avLst/>
          </a:prstGeom>
          <a:solidFill>
            <a:srgbClr val="0C0C0E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606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SOLO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29718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7D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£75</a:t>
            </a:r>
            <a:pPr indent="0" marL="0">
              <a:buNone/>
            </a:pPr>
            <a:r>
              <a:rPr lang="en-US" sz="16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/mo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1234440" y="3794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Independent promoters &amp; buyers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2062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demand-ranked lineups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Fair Value Reports + negotiation scripts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Private Pitch Links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Routing &amp; club-vs-viral reads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2331720"/>
            <a:ext cx="5029200" cy="384048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331720"/>
            <a:ext cx="5029200" cy="822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2606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29718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7D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£300</a:t>
            </a:r>
            <a:pPr indent="0" marL="0">
              <a:buNone/>
            </a:pPr>
            <a:r>
              <a:rPr lang="en-US" sz="16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/mo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720840" y="3794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Agencies &amp; festivals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20840" y="42062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Everything in Solo, across seats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Roster routing &amp; competitive intel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Calibrated sell-through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Priority data refresh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6016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Free ranking is the funnel. Paywall stays off until the first cohort is closed by hand.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3738"/>
            <a:ext cx="64008" cy="12435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938174" y="575340"/>
            <a:ext cx="64008" cy="19275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053389" y="513161"/>
            <a:ext cx="64008" cy="25493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168603" y="457200"/>
            <a:ext cx="64008" cy="3108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420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0" y="4206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MARKET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thedjrankings.com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niche worth owning — and a fork.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BOTTOM-UP TAM (FULLY PENETRATED)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7889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£3–4M</a:t>
            </a:r>
            <a:pPr indent="0" marL="0">
              <a:buNone/>
            </a:pPr>
            <a:r>
              <a:rPr lang="en-US" sz="2600" b="1" dirty="0">
                <a:solidFill>
                  <a:srgbClr val="E9E7D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ARR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22960" y="3886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3,000 independent buyers × £75  +  ≈ 300 agencies / festivals × £300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2377440"/>
            <a:ext cx="3657600" cy="374904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STRATEGIC FORK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301752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Boutique SaaS</a:t>
            </a:r>
            <a:endParaRPr lang="en-US" sz="1700" dirty="0"/>
          </a:p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lean and profitable on a focused, loyal base.</a:t>
            </a:r>
            <a:endParaRPr lang="en-US" sz="1700" dirty="0"/>
          </a:p>
          <a:p>
            <a:pPr algn="l"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200" i="1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or —</a:t>
            </a:r>
            <a:endParaRPr lang="en-US" sz="17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wedge</a:t>
            </a:r>
            <a:endParaRPr lang="en-US" sz="17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Fee-benchmark data as the entry point into a bigger talent-data play — agency tooling, licensing.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51206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Decide which — it changes pricing, fundraising, and how hard to chase scale.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3738"/>
            <a:ext cx="64008" cy="12435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938174" y="575340"/>
            <a:ext cx="64008" cy="19275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053389" y="513161"/>
            <a:ext cx="64008" cy="25493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168603" y="457200"/>
            <a:ext cx="64008" cy="3108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420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0" y="4206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REVENUE PATH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thedjrankings.com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18-month path from a standing start.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Pre-revenue today — paywall off, Stripe undeployed. Driven bottom-up off buyers reached → trial → paid.</a:t>
            </a:r>
            <a:endParaRPr lang="en-US" sz="1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822960" y="3108960"/>
          <a:ext cx="60350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7315200" y="3108960"/>
            <a:ext cx="4023360" cy="91440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32369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MRR · CONSERVATIVE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3456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£5.4k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418320" y="34564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40 Solo + 8 Team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0" y="4160520"/>
            <a:ext cx="4023360" cy="91440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0" y="42885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MRR · AGGRESSIVE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589520" y="4507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£16.5k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418320" y="45079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120 Solo + 25 Team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315200" y="5212080"/>
            <a:ext cx="4023360" cy="91440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89520" y="53400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TEAM LTV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589520" y="5559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£6–9k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9418320" y="55595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real business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3738"/>
            <a:ext cx="64008" cy="12435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938174" y="575340"/>
            <a:ext cx="64008" cy="19275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053389" y="513161"/>
            <a:ext cx="64008" cy="25493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168603" y="457200"/>
            <a:ext cx="64008" cy="3108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420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0" y="4206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thedjrankings.com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Everyone else has a side.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23160"/>
          <a:ext cx="10515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840480"/>
                <a:gridCol w="3749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8A8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WHO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8A8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WHAT THEY OWN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8A8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WHY THEY CAN'T DO THIS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0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E7D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Resident Advisor</a:t>
                      </a:r>
                      <a:endParaRPr lang="en-US" sz="14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8A8A82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Live-booking demand, scene authority, the audience</a:t>
                      </a:r>
                      <a:endParaRPr lang="en-US" sz="12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8A8A82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Sells events &amp; tickets — has a side. No neutral fee benchmark.</a:t>
                      </a:r>
                      <a:endParaRPr lang="en-US" sz="12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0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E7D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Beatport</a:t>
                      </a:r>
                      <a:endParaRPr lang="en-US" sz="14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8A8A82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Genre chart credibility</a:t>
                      </a:r>
                      <a:endParaRPr lang="en-US" sz="12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8A8A82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Track-sales signal; not booking demand, not buyer-facing.</a:t>
                      </a:r>
                      <a:endParaRPr lang="en-US" sz="12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0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E7D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Chartmetric / Soundcharts</a:t>
                      </a:r>
                      <a:endParaRPr lang="en-US" sz="14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8A8A82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Streaming-reach analytics</a:t>
                      </a:r>
                      <a:endParaRPr lang="en-US" sz="12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8A8A82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Reach-biased — the “popularity” framing we argue against.</a:t>
                      </a:r>
                      <a:endParaRPr lang="en-US" sz="12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0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E7D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Agency data + agent gut</a:t>
                      </a:r>
                      <a:endParaRPr lang="en-US" sz="14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8A8A82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The incumbent for a fee call</a:t>
                      </a:r>
                      <a:endParaRPr lang="en-US" sz="12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8A8A82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Partisan by definition: it's the seller's number.</a:t>
                      </a:r>
                      <a:endParaRPr lang="en-US" sz="12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0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8F75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Doing nothing</a:t>
                      </a:r>
                      <a:endParaRPr lang="en-US" sz="14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8F75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Relationships &amp; hype</a:t>
                      </a:r>
                      <a:endParaRPr lang="en-US" sz="12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8F75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No benchmark at all — the real competitor: inertia.</a:t>
                      </a:r>
                      <a:endParaRPr lang="en-US" sz="12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0E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2296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white space we own: a neutral, two-sided fee benchmark a buyer can cite against a seller.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3738"/>
            <a:ext cx="64008" cy="12435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938174" y="575340"/>
            <a:ext cx="64008" cy="19275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053389" y="513161"/>
            <a:ext cx="64008" cy="25493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168603" y="457200"/>
            <a:ext cx="64008" cy="3108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420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0" y="4206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MOAT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thedjrankings.com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8F7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Neutrality.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act. No agency. No kickback.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data edge is contestable — RA could build a benchmark tomorrow. Being the only party in the room with no horse in the race is structural. Lead with it when trust is the blocker.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4864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“Nobody. No act, no agency, no kickback. That's the whole point — it's the one read in the room that isn't selling you something.”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3738"/>
            <a:ext cx="64008" cy="12435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938174" y="575340"/>
            <a:ext cx="64008" cy="19275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053389" y="513161"/>
            <a:ext cx="64008" cy="25493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168603" y="457200"/>
            <a:ext cx="64008" cy="3108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420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0" y="4206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STATE OF PLAY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thedjrankings.com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Product: built. Business: about to start.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822960" y="2423160"/>
            <a:ext cx="5029200" cy="365760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697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SHIPPED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310896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330 artists ranked, refreshed daily</a:t>
            </a:r>
            <a:endParaRPr lang="en-US" sz="1350" dirty="0"/>
          </a:p>
          <a:p>
            <a:pPr marL="203200" indent="-2032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 Gap, negotiation scripts, Pitch Links</a:t>
            </a:r>
            <a:endParaRPr lang="en-US" sz="1350" dirty="0"/>
          </a:p>
          <a:p>
            <a:pPr marL="203200" indent="-2032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Stripe + entitlement path (paywall off)</a:t>
            </a:r>
            <a:endParaRPr lang="en-US" sz="1350" dirty="0"/>
          </a:p>
          <a:p>
            <a:pPr marL="203200" indent="-2032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Funnel analytics wired</a:t>
            </a:r>
            <a:endParaRPr lang="en-US" sz="1350" dirty="0"/>
          </a:p>
          <a:p>
            <a:pPr marL="203200" indent="-2032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Brand, method, GTM playbook documented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0" y="2423160"/>
            <a:ext cx="5029200" cy="3657600"/>
          </a:xfrm>
          <a:prstGeom prst="rect">
            <a:avLst/>
          </a:prstGeom>
          <a:solidFill>
            <a:srgbClr val="0C0C0E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697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TWO GAPS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310896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 verified fee anchors.</a:t>
            </a:r>
            <a:endParaRPr lang="en-US" sz="1600" dirty="0"/>
          </a:p>
          <a:p>
            <a:pPr indent="0" marL="0">
              <a:lnSpc>
                <a:spcPts val="17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Value Gap is currently an estimate. The wedge, the pricing, and the moat all rest on fee accuracy that's unproven.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Outreach hasn't started.</a:t>
            </a:r>
            <a:endParaRPr lang="en-US" sz="16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playbook is written and unexecuted; the funnel is instrumented and empty.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3738"/>
            <a:ext cx="64008" cy="12435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938174" y="575340"/>
            <a:ext cx="64008" cy="19275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053389" y="513161"/>
            <a:ext cx="64008" cy="25493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168603" y="457200"/>
            <a:ext cx="64008" cy="3108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420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0" y="4206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ONE MOVE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thedjrankings.com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Ten calls clear three blockers at once.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Founder closes the first ten by hand. Each call produces a fee anchor, an activation signal, and a potential design partner — simultaneously.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383280"/>
            <a:ext cx="3261360" cy="246888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61188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3977640"/>
            <a:ext cx="262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Five names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4617720"/>
            <a:ext cx="262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Fill the target list with real buyers weighing a strong-buy act this season. Five are seeded.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50080" y="3383280"/>
            <a:ext cx="3261360" cy="246888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0120" y="361188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WEEK 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70120" y="3977640"/>
            <a:ext cx="262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Five Pitch Links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70120" y="4617720"/>
            <a:ext cx="262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Send the live Value Gap read — the £-gap is the hook, not a feature list.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77200" y="3383280"/>
            <a:ext cx="3261360" cy="246888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7240" y="361188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 DAYS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97240" y="3977640"/>
            <a:ext cx="262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Proof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97240" y="4617720"/>
            <a:ext cx="262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design partners · 30–40 real fee anchors · then flip Stripe 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Don't touch Stripe until those calls have happened.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PEAKTIME — Investor / Strategy Overview</dc:title>
  <dc:subject>PptxGenJS Presentation</dc:subject>
  <dc:creator>PEAKTIME</dc:creator>
  <cp:lastModifiedBy>PEAKTIME</cp:lastModifiedBy>
  <cp:revision>1</cp:revision>
  <dcterms:created xsi:type="dcterms:W3CDTF">2026-06-11T00:38:02Z</dcterms:created>
  <dcterms:modified xsi:type="dcterms:W3CDTF">2026-06-11T00:38:02Z</dcterms:modified>
</cp:coreProperties>
</file>